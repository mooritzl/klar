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27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5272B"/>
                </a:solidFill>
                <a:latin typeface="Calibri"/>
              </a:rPr>
              <a:t>MDMA · Ø dose per occasion, 12 weeks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Ø dose per occasion (mg)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</c:v>
                </c:pt>
                <c:pt idx="1">
                  <c:v>120</c:v>
                </c:pt>
                <c:pt idx="2">
                  <c:v>110</c:v>
                </c:pt>
                <c:pt idx="3">
                  <c:v>125</c:v>
                </c:pt>
                <c:pt idx="4">
                  <c:v>100</c:v>
                </c:pt>
                <c:pt idx="5">
                  <c:v>95</c:v>
                </c:pt>
                <c:pt idx="6">
                  <c:v>100</c:v>
                </c:pt>
                <c:pt idx="7">
                  <c:v>85</c:v>
                </c:pt>
                <c:pt idx="8">
                  <c:v>80</c:v>
                </c:pt>
                <c:pt idx="9">
                  <c:v>80</c:v>
                </c:pt>
                <c:pt idx="10">
                  <c:v>70</c:v>
                </c:pt>
                <c:pt idx="11">
                  <c:v>65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12700" cap="flat">
              <a:solidFill>
                <a:srgbClr val="E3ED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KLAR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8803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Konsum-Tagebuch &amp; Risikominimierung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consumption. Minimize your risks. Move toward less.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393692" y="416052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ed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4868" y="4331696"/>
            <a:ext cx="316017" cy="31601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5292" y="416052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icons/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468" y="4331696"/>
            <a:ext cx="316017" cy="31601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6892" y="416052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068" y="4331696"/>
            <a:ext cx="316017" cy="3160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MVP  ·  July 2026  ·  lenhard.xyz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tracking doesn't exist on iOS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use substances have no tool that meets them where they 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25196" y="18288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EE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45236" y="21945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z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Quit apps repel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5236" y="36118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Abstinence-only framing (“I Am Sober”) drives away exactly the people who would benefit most from honest reflection.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11396" y="18288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EE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4631436" y="21945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smartpho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3728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1436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is empty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31436" y="36118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consumption diary, Open Mind, is Android-only. On the App Store, this category is effectively unserved.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97596" y="18288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EE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8517636" y="21945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3728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7636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risk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517636" y="36118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record, doses and frequency creep unnoticed. Patterns nobody sees are risks nobody manages.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deliberate middle lane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25196" y="15544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4F6F6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5236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45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Party &amp; trip apps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45236" y="24688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consumption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reports, “how to” content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under App Store rule 1.4.3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11396" y="132588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E3B43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31436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31436" y="22860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use, works to reduce risk &amp; frequency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fast, private diary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avoidance, emergencies, counseling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97596" y="15544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4F6F6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17636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45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Abstinence-only apps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17636" y="24688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 failure, logged as “relapse”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only, no visibility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Repels ambivalent users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5577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stance: </a:t>
            </a:r>
            <a:pPr algn="ctr" indent="0" marL="0">
              <a:buNone/>
            </a:pPr>
            <a:r>
              <a:rPr lang="en-US" sz="150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drugs always involves risks. Klar helps people who use anyway to understand those risks, avoid the worst outcomes, and move toward less.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pillars, one product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25196" y="173736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EEF6F5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21031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ed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814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— Honest logging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5236" y="352044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Two-tap entries with self-reported dose (mg / g / ml). Pre-filled substance list, personal selection. Calendar, context tags, lock-screen widget.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11396" y="173736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EEF6F5"/>
          </a:solidFill>
          <a:ln/>
        </p:spPr>
      </p:sp>
      <p:sp>
        <p:nvSpPr>
          <p:cNvPr id="9" name="Shape 6"/>
          <p:cNvSpPr/>
          <p:nvPr/>
        </p:nvSpPr>
        <p:spPr>
          <a:xfrm>
            <a:off x="4631436" y="21031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cons/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2814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1436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— Reflection &amp; planning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31436" y="352044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review, frequency and dose trends. Personal goals — quit or reduce. If-then action plans for risky situations, entry-free streaks, craving SOS.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97596" y="173736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EEF6F5"/>
          </a:solidFill>
          <a:ln/>
        </p:spPr>
      </p:sp>
      <p:sp>
        <p:nvSpPr>
          <p:cNvPr id="14" name="Shape 10"/>
          <p:cNvSpPr/>
          <p:nvPr/>
        </p:nvSpPr>
        <p:spPr>
          <a:xfrm>
            <a:off x="8517636" y="210312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2814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17636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— Risk minimization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517636" y="352044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avoidance and interaction warnings, emergency first aid with one-tap 112, counseling directory. Content sourced and attributed — BZgA, mindzone, Saferparty.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behaviour-change evidence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implements what component trials actually support — not what tracker apps usually ship.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749040" cy="3657600"/>
          </a:xfrm>
          <a:prstGeom prst="roundRect">
            <a:avLst>
              <a:gd name="adj" fmla="val 3000"/>
            </a:avLst>
          </a:prstGeom>
          <a:solidFill>
            <a:srgbClr val="0E3B4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0.65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if-then plans (“implementation intentions”) on goal attainment — meta-analysis of 94 studies.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Gollwitzer &amp; Sheeran (2006)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8288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9" name="Image 0" descr="icons/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7079" y="195955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77840" y="173736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alone changes little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randomised diary experiment found no lasting behaviour change from logging without feedback. </a:t>
            </a:r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Buu et al. (2020)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46320" y="309067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ons/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79" y="322143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999232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pair: self-monitoring × action planning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a 2⁵ factorial app trial, no single module worked alone — the combination did. </a:t>
            </a:r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et al. (2018)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846320" y="435254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4483303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77840" y="4261104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works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Behaviour substitution, problem solving and credible sources are the techniques most consistently linked to reduction. </a:t>
            </a:r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Garnett et al. (2018); Kaner et al. (2017)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5715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</a:t>
            </a:r>
            <a:pPr indent="0" marL="0">
              <a:buNone/>
            </a:pPr>
            <a:r>
              <a:rPr lang="en-US" sz="12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base is alcohol &amp; tobacco, and app-specific effects are modest (≈ 2 units/week over control in the largest RCT; Oldham et al., 2024). Klar treats transfer to other substances as a hypothesis to test — not a promise to market.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MVP: log an entry in two taps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logging is slow, honesty dies. Speed is a safety feature.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pl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19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 +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1031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home screen or the lock-screen widget. Neutral wording everywhere: “Log entry”, never “start session”.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1868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3385109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substance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5844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personal list, chosen once during onboarding. Timestamp is auto-filled and editable.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700016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4866437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6817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 — details optional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506577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(mg / g) and context tags are one skippable tap away. Honest data beats complete data.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863840" y="1417320"/>
            <a:ext cx="2834640" cy="5029200"/>
          </a:xfrm>
          <a:prstGeom prst="roundRect">
            <a:avLst>
              <a:gd name="adj" fmla="val 8065"/>
            </a:avLst>
          </a:prstGeom>
          <a:solidFill>
            <a:srgbClr val="F7FAFA"/>
          </a:solidFill>
          <a:ln w="31750">
            <a:solidFill>
              <a:srgbClr val="0E3B4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138160" y="1673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38160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Tue, 14 Jul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092440" y="242316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7532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275320" y="2752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drinks · 22:40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092440" y="3227832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75320" y="33009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MDMA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275320" y="3557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mg · 23:55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8092440" y="4078224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EEF6F5"/>
          </a:solidFill>
          <a:ln/>
        </p:spPr>
      </p:sp>
      <p:sp>
        <p:nvSpPr>
          <p:cNvPr id="26" name="Text 21"/>
          <p:cNvSpPr/>
          <p:nvPr/>
        </p:nvSpPr>
        <p:spPr>
          <a:xfrm>
            <a:off x="8247888" y="4078224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entry-free days this month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8938260" y="54864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3"/>
          <p:cNvSpPr/>
          <p:nvPr/>
        </p:nvSpPr>
        <p:spPr>
          <a:xfrm>
            <a:off x="8938260" y="544982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that changes behavior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tooling is the purpose — the diary is just the input.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dose per occasion, per substance — the tapering view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gaps between uses — the pattern view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against a personal goal, plus the success rate of your if-then plans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ships in the MVP — logging without feedback shows no lasting effect (Buu et al., 2020)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loop: log → weekly feedback → adjust your plan. No judgment, no norms — only your own baseline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035040" y="1737360"/>
          <a:ext cx="5577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5806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by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rule 1.4.3 bans encouraging consumption — not tracking it. The line is drawn into the product.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EEF6F5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0" y="182880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BECE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233879"/>
            <a:ext cx="241402" cy="2414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21031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9" name="Image 1" descr="icons/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223387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214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app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223760" y="21214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in the app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60120" y="278892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dose fields (a diary, not a calculator — rule 1.4.2 targets recommendations)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substance list, user-selected tracking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goals, entry-free streaks, craving SOS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Risk-avoidance content, attributed: BZgA, mindzone, Saferparty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first aid + one-tap 112, counseling directory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629400" y="278892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recommendations or “common dose” tables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to” content, routes, combination synergies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reports, social feeds, session sharing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helps obtain substances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/ leaf imagery or enthusiast language in metadata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on the App Store today: </a:t>
            </a:r>
            <a:pPr indent="0" marL="0">
              <a:buNone/>
            </a:pPr>
            <a:r>
              <a:rPr lang="en-US" sz="12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KnowDrugs ships safer-use content for 200+ substances (incl. the German store); I Am Sober covers substance-list tracking. Klar's content layer is a strict subset of what is already accepted.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data is GDPR Art. 9 special-category data. The only safe server is no server.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EF6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30552"/>
            <a:ext cx="594360" cy="59436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6" name="Image 0" descr="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28508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Local-first, no account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487168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live on the device. No sign-up, no server, nothing to breach or subpoena.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E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130552"/>
            <a:ext cx="594360" cy="59436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11" name="Image 1" descr="icons/eyeoff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14" y="228508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84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ID lock &amp; panic-hide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487168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locks behind biometrics; one gesture hides everything behind a neutral screen.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E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79392"/>
            <a:ext cx="594360" cy="59436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16" name="Image 2" descr="icons/z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443392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33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analytics on entries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636008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SDKs touch substance data. Notifications stay generic on the lock screen.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E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279392"/>
            <a:ext cx="594360" cy="59436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21" name="Image 3" descr="icons/downloa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214" y="443392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33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&amp; delete, always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636008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export (JSON/CSV) and true deletion — the user owns the diary, not us.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the App Store — with a plan 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43484" y="21031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EF6F5"/>
          </a:solidFill>
          <a:ln/>
        </p:spPr>
      </p:sp>
      <p:sp>
        <p:nvSpPr>
          <p:cNvPr id="4" name="Shape 2"/>
          <p:cNvSpPr/>
          <p:nvPr/>
        </p:nvSpPr>
        <p:spPr>
          <a:xfrm>
            <a:off x="717804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17804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7804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7804" y="35204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TestFlight prototype. 20 real users, 4 weeks. Success: ≥50% still logging in week 4.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42132" y="21031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EF6F5"/>
          </a:solidFill>
          <a:ln/>
        </p:spPr>
      </p:sp>
      <p:sp>
        <p:nvSpPr>
          <p:cNvPr id="9" name="Shape 7"/>
          <p:cNvSpPr/>
          <p:nvPr/>
        </p:nvSpPr>
        <p:spPr>
          <a:xfrm>
            <a:off x="3616452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16452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16452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MVP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16452" y="35204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dose, calendar, weekly review, if-then action plans, one goal type, SOS, emergency &amp; counseling. DE only.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0780" y="21031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EF6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515100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51510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15100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15100" y="35204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17+, clinical metadata, detailed review notes citing sources &amp; precedent. Appeal playbook ready for a first rejection.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39428" y="21031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0E3B43"/>
          </a:solidFill>
          <a:ln/>
        </p:spPr>
      </p:sp>
      <p:sp>
        <p:nvSpPr>
          <p:cNvPr id="19" name="Shape 17"/>
          <p:cNvSpPr/>
          <p:nvPr/>
        </p:nvSpPr>
        <p:spPr>
          <a:xfrm>
            <a:off x="9413748" y="23774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9413748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413748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&amp; v2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413748" y="35204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review fails: EU alternative distribution (DMA) — notarization only, no rule 1.4.3. v2: drug-checking alerts via licensing.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literature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349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Buu, A., Yang, S., Li, R., et al. (2020).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measurement reactivity in daily diary data on substance use: Results from a randomized experiment.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Addictive Behaviors, 102, 106198.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Crane, D., Garnett, C., Michie, S., West, R., &amp; Brown, J. (2018).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smartphone app to reduce excessive alcohol consumption: Identifying the effectiveness of intervention components in a factorial randomised control trial.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Reports, 8, 4384.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Garnett, C., Crane, D., Brown, J., et al. (2018).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change techniques used in digital behavior change interventions to reduce excessive alcohol consumption: A meta-regression.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Annals of Behavioral Medicine, 52(6), 530–543.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Gollwitzer, P. M., &amp; Sheeran, P. (2006).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intentions and goal achievement: A meta-analysis of effects and processes.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Experimental Social Psychology, 38, 69–119.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63640" y="1737360"/>
            <a:ext cx="5349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Kaner, E. F. S., Beyer, F. R., Garnett, C., et al. (2017).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digital interventions for reducing hazardous and harmful alcohol consumption in community-dwelling populations.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Cochrane Database of Systematic Reviews, 2017(9), CD011479.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Michie, S., Richardson, M., Johnston, M., et al. (2013).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behavior change technique taxonomy (v1) of 93 hierarchically clustered techniques.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Annals of Behavioral Medicine, 46(1), 81–95.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Oldham, M., Beard, E., Loebenberg, G., et al. (2024).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of a smartphone app (Drink Less) versus usual digital care for reducing alcohol consumption: A randomised controlled trial.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eClinicalMedicine, 70, 102534.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5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Shiffman, S. (2009).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momentary assessment (EMA) in studies of substance use.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Assessment, 21(4), 486–497.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377440" y="246888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starter substance set and open content licensing talks with BZgA / mindzone / Saferparty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PWA validation prototype — logging, dose field, calendar — to 20 test users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App Review notes and assemble the precedent file (KnowDrugs, I Am Sober)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 ·  lenhard.xyz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Klar — Concept &amp; MVP</dc:title>
  <dc:subject>PptxGenJS Presentation</dc:subject>
  <dc:creator>Moritz Lenhard</dc:creator>
  <cp:lastModifiedBy>Moritz Lenhard</cp:lastModifiedBy>
  <cp:revision>1</cp:revision>
  <dcterms:created xsi:type="dcterms:W3CDTF">2026-07-12T13:37:53Z</dcterms:created>
  <dcterms:modified xsi:type="dcterms:W3CDTF">2026-07-12T13:37:53Z</dcterms:modified>
</cp:coreProperties>
</file>